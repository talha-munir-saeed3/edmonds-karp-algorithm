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LSwC70cr3iDFBgbOiS/VzRKjc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ACED5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8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20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1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ACED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5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5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ACED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5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ACED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7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7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7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7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7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7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ACED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7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ACED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8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19" name="Google Shape;119;p28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8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8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2" name="Google Shape;122;p28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8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ACED5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8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5" name="Google Shape;125;p28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8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ACED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8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ACED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50B9C0">
                  <a:alpha val="7059"/>
                </a:srgbClr>
              </a:gs>
              <a:gs pos="36000">
                <a:srgbClr val="50B9C0">
                  <a:alpha val="5882"/>
                </a:srgbClr>
              </a:gs>
              <a:gs pos="69000">
                <a:srgbClr val="50B9C0">
                  <a:alpha val="0"/>
                </a:srgbClr>
              </a:gs>
              <a:gs pos="100000">
                <a:srgbClr val="50B9C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3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50B9C0">
                  <a:alpha val="14118"/>
                </a:srgbClr>
              </a:gs>
              <a:gs pos="36000">
                <a:srgbClr val="50B9C0">
                  <a:alpha val="7059"/>
                </a:srgbClr>
              </a:gs>
              <a:gs pos="73000">
                <a:srgbClr val="50B9C0">
                  <a:alpha val="0"/>
                </a:srgbClr>
              </a:gs>
              <a:gs pos="100000">
                <a:srgbClr val="50B9C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50B9C0">
                  <a:alpha val="9020"/>
                </a:srgbClr>
              </a:gs>
              <a:gs pos="36000">
                <a:srgbClr val="50B9C0">
                  <a:alpha val="5098"/>
                </a:srgbClr>
              </a:gs>
              <a:gs pos="66000">
                <a:srgbClr val="50B9C0">
                  <a:alpha val="0"/>
                </a:srgbClr>
              </a:gs>
              <a:gs pos="100000">
                <a:srgbClr val="50B9C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3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50B9C0">
                  <a:alpha val="10980"/>
                </a:srgbClr>
              </a:gs>
              <a:gs pos="36000">
                <a:srgbClr val="50B9C0">
                  <a:alpha val="10196"/>
                </a:srgbClr>
              </a:gs>
              <a:gs pos="75000">
                <a:srgbClr val="50B9C0">
                  <a:alpha val="0"/>
                </a:srgbClr>
              </a:gs>
              <a:gs pos="100000">
                <a:srgbClr val="50B9C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3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50B9C0">
                  <a:alpha val="7843"/>
                </a:srgbClr>
              </a:gs>
              <a:gs pos="36000">
                <a:srgbClr val="50B9C0">
                  <a:alpha val="7843"/>
                </a:srgbClr>
              </a:gs>
              <a:gs pos="72000">
                <a:srgbClr val="50B9C0">
                  <a:alpha val="0"/>
                </a:srgbClr>
              </a:gs>
              <a:gs pos="100000">
                <a:srgbClr val="50B9C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20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ACED5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Edmonds-Karp Algorithm Project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A PYTHON IMPLEMENTATION FOR MAXIMUM FLOW AND MINIMUM CUT PROBLEMS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Introduction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This project implements the Edmonds-Karp algorithm to solve the Maximum Flow problem.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- Uses Breadth-First Search (BFS) to find augmenting paths.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- Calculates Maximum Flow and identifies the Minimum Cut in a flow network.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- Efficient and reliable for sparse graphs.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484710" y="452718"/>
            <a:ext cx="8488602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Ford-Fulkerson vs. Edmonds-Karp: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827699" y="1853248"/>
            <a:ext cx="7663157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b="1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>
                <a:solidFill>
                  <a:srgbClr val="FFFF00"/>
                </a:solidFill>
              </a:rPr>
              <a:t>Ford-Fulkerson</a:t>
            </a:r>
            <a:r>
              <a:rPr lang="en-US"/>
              <a:t>: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Uses any path-finding method (e.g., DFS or BFS).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>
                <a:solidFill>
                  <a:srgbClr val="FFFF00"/>
                </a:solidFill>
              </a:rPr>
              <a:t>Time</a:t>
            </a:r>
            <a:r>
              <a:rPr b="1" lang="en-US"/>
              <a:t> </a:t>
            </a:r>
            <a:r>
              <a:rPr b="1" lang="en-US">
                <a:solidFill>
                  <a:srgbClr val="FFFF00"/>
                </a:solidFill>
              </a:rPr>
              <a:t>Complexity</a:t>
            </a:r>
            <a:r>
              <a:rPr lang="en-US"/>
              <a:t>: O(C×E)O(C \times E)O(C×E) (</a:t>
            </a:r>
            <a:r>
              <a:rPr i="1" lang="en-US"/>
              <a:t>C = max capacity</a:t>
            </a:r>
            <a:r>
              <a:rPr lang="en-US"/>
              <a:t>).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Can fail for irrational capacities.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>
                <a:solidFill>
                  <a:srgbClr val="FFFF00"/>
                </a:solidFill>
              </a:rPr>
              <a:t>Edmonds-Karp</a:t>
            </a:r>
            <a:r>
              <a:rPr lang="en-US"/>
              <a:t>: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 specific implementation of Ford-Fulkerson using BFS.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1" lang="en-US">
                <a:solidFill>
                  <a:srgbClr val="FFFF00"/>
                </a:solidFill>
              </a:rPr>
              <a:t>Time</a:t>
            </a:r>
            <a:r>
              <a:rPr b="1" lang="en-US"/>
              <a:t> </a:t>
            </a:r>
            <a:r>
              <a:rPr b="1" lang="en-US">
                <a:solidFill>
                  <a:srgbClr val="FFFF00"/>
                </a:solidFill>
              </a:rPr>
              <a:t>Complexity</a:t>
            </a:r>
            <a:r>
              <a:rPr lang="en-US"/>
              <a:t>: O(V×E2)O(V \times E^2)O(V×E2) (</a:t>
            </a:r>
            <a:r>
              <a:rPr i="1" lang="en-US"/>
              <a:t>guaranteed polynomial</a:t>
            </a:r>
            <a:r>
              <a:rPr lang="en-US"/>
              <a:t>).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Always terminates with integer capacities.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Optimized for large graphs and practical use cases.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Key Components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>
                <a:solidFill>
                  <a:srgbClr val="FFFF00"/>
                </a:solidFill>
              </a:rPr>
              <a:t>Graph Structure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Directed graph with: 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Vertices (nodes)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Edges with capacities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Source node (s)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Sink node (t)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>
                <a:solidFill>
                  <a:srgbClr val="FFFF00"/>
                </a:solidFill>
              </a:rPr>
              <a:t>Flow constraints</a:t>
            </a:r>
            <a:r>
              <a:rPr lang="en-US" sz="2400"/>
              <a:t>: 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Cannot exceed edge capacity</a:t>
            </a:r>
            <a:endParaRPr/>
          </a:p>
          <a:p>
            <a:pPr indent="-285755" lvl="1" marL="742962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Flow conservation at intermediate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Breadth-First Search (BFS)</a:t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Finds the shortest augmenting path in the residual graph.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Uses a queue to explore nodes layer by layer.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Tracks parent nodes to reconstruct paths.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Stops upon reaching the sink (target node).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Returns the bottleneck flow of the path.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BFS Algorithm Steps: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484710" y="1853248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Initialize parent array and queue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Start from source node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>
                <a:solidFill>
                  <a:srgbClr val="FFFF00"/>
                </a:solidFill>
              </a:rPr>
              <a:t>For each node</a:t>
            </a:r>
            <a:r>
              <a:rPr lang="en-US" sz="2400"/>
              <a:t>: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Explore all adjacent nodes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Check residual capacity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Update parent and flow information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>
                <a:solidFill>
                  <a:srgbClr val="FFFF00"/>
                </a:solidFill>
              </a:rPr>
              <a:t>Continue until</a:t>
            </a:r>
            <a:r>
              <a:rPr lang="en-US" sz="2400"/>
              <a:t>: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Sink is reached (augmenting path found)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Or no path exists</a:t>
            </a:r>
            <a:endParaRPr/>
          </a:p>
          <a:p>
            <a:pPr indent="-220986" lvl="0" marL="342906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Max Flow Computation</a:t>
            </a:r>
            <a:endParaRPr/>
          </a:p>
        </p:txBody>
      </p:sp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1. Initialize total flow to 0.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2. Repeatedly find augmenting paths using BFS.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3. Update flows along the path and reverse edges.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4. Add bottleneck flow to total flow.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5. Continue until no more augmenting paths are found.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Minimum Cut: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484710" y="2057594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Performed after computing Maximum Flow.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Identifies edges that, if removed, would disconnect source from sink.</a:t>
            </a:r>
            <a:endParaRPr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Minimum Cut Steps: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 1.Start DFS from source.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2.Mark all reachable vertices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b="1" lang="en-US" sz="2400">
                <a:solidFill>
                  <a:srgbClr val="FFFF00"/>
                </a:solidFill>
              </a:rPr>
              <a:t>3.Find edges where:</a:t>
            </a:r>
            <a:r>
              <a:rPr lang="en-US" sz="2400"/>
              <a:t> </a:t>
            </a:r>
            <a:endParaRPr sz="2400"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Start vertex is reachable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End vertex is unreachable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Edge has positive capacity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4.These edges form the min cut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Additional Functionality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Augmenting path tracking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Flow visualization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Path flow calculation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Min cut edge highlighting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Time Complexity: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BFS: O(V + E) per augmenting path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DFS for min cut: O(V + E)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Overall max flow: O(VE²)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Space complexity: O(V²)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Font typeface="Century Gothic"/>
              <a:buNone/>
            </a:pPr>
            <a:r>
              <a:rPr b="1" lang="en-US">
                <a:solidFill>
                  <a:srgbClr val="FFFF00"/>
                </a:solidFill>
              </a:rPr>
              <a:t>Conclusion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This project demonstrates: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Efficient computation of Maximum Flow using the Edmonds-Karp algorithm.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Identification of Minimum Cut to analyze network flows.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- A robust solution for practical problems in transportation, networking, and logistics.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